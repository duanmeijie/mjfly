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1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2.svg" ContentType="image/svg+xml"/>
  <Override PartName="/ppt/media/image34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大家好，今天我将向大家介绍一款专为DJI Tello无人机设计的WiFi直控应用——MJFLY。这款应用基于Android平台开发，利用DJI SDK V5和UDP协议，实现了通过手机直接控制无人机的便捷操作。本次介绍将涵盖项目的核心功能、技术架构和设计亮点。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MJFLY的核心定位是提供一种便捷的无人机控制方式。用户只需用手机连接Tello无人机的WiFi热点，即可实现所有飞行操作，完全摆脱了对遥控器和USB线的依赖。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应用的核心特性包括一键起降、直观的双虚拟摇杆操控、实时的电量与温度状态监控，以及智能的WiFi连接检测功能，确保用户体验流畅且安全。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技术层面，我们采用了现代化的Kotlin语言开发，基于Android API 24+构建，并集成了最新的DJI Mobile SDK V5以保证控制的稳定性。架构上，严格遵循MVVM模式，并引入Hilt实现高效的依赖注入，确保了应用的高性能、可维护性和未来的功能可扩展性。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这是我们App的主界面。我们采用了直观的底部导航栏设计，用户可以轻松在FPV、控制、遥测、相机和媒体这五个核心功能页面之间切换。整体设计遵循了深色主题和Material Design规范，确保了良好的用户体验和视觉一致性。请注意，这里的截图是占位符，实际应用中会替换为真实的App界面。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飞行控制界面是应用的核心。顶部状态栏实时显示WiFi连接状态、电池电量和温度等关键信息。中间是两个虚拟摇杆，用于精确控制无人机的飞行姿态。底部则排列了起飞、降落、返航等常用功能按钮，以及一个醒目的红色急停按钮，确保飞行安全。这张示意图展示了我们设计的布局，实际界面会更加精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虚拟摇杆的设计是飞行控制的关键。左摇杆控制无人机的油门和偏航，也就是高度和朝向。右摇杆控制俯仰和横滚，决定飞行的前后左右方向。我们对摇杆输入值进行了归一化处理，并以20Hz的频率稳定地发送给无人机，确保了操控的精准和流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遥测数据界面为用户提供了全面的无人机状态信息。我们将数据分为“飞行器状态”和“飞行遥测数据”两大类。前者包括连接状态、飞行模式等宏观信息，后者则提供了GPS坐标、高度、姿态角等精确的飞行参数。这些数据帮助用户全面掌握无人机的实时情况，做出更明智的飞行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PV，即第一人称视角，是无人机飞行中最具沉浸感的体验。我们的FPV界面通过TextureView实时渲染无人机摄像头捕捉到的画面。同时，我们在界面上叠加了半透明的快捷按钮，方便用户在观看视频的同时进行拍照、录像或紧急起降操作。连接状态等关键信息也会以覆盖层的形式显示，确保信息的即时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JFLY与Tello无人机的通信是基于UDP协议的。我们使用8889端口向无人机发送控制命令，如起飞、降落和摇杆指令。同时，在8890端口监听无人机发送回的状态数据。这些状态数据是一个包含17个字段的字符串，我们对其进行实时解析，提取出姿态、速度、电量等关键信息，为上层应用提供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项目的可维护性和可扩展性，我们采用了经典的MVVM分层架构。最上层是UI层，负责界面展示。中间是ViewModel层，作为UI和数据的桥梁，管理UI状态。Repository层负责数据的获取和处理，对上层提供统一的接口。最底层是数据源和通信协议层，负责与硬件的直接交互。这种分层设计使得各模块职责清晰，易于测试和替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数据流设计完全基于Kotlin的StateFlow，实现了响应式编程。从底层的TelloStateReceiver开始，所有状态变化都被包装成StateFlow。数据向上流动，经过Repository和ViewModel的处理和转换，最终到达UI层。UI层通过collect操作，以生命周期感知的方式订阅这些数据流，实现了数据更新时UI的自动刷新，大大简化了状态管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为了实现无缝的用户体验，我们设计了智能的WiFi连接检测机制。应用会利用Android的WifiManager API，定期检测当前连接的WiFi的SSID。通过前缀匹配的方式，我们不仅支持Tello无人机，还兼容了DJI的其他多款机型，包括热门的Mini系列、Mavic Air系列和FPV等。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检测结果通过 StateFlow 发布，驱动 UI 上的连接状态显示和功能可用性的变化，让用户直观地看到当前的连接情况，操作更安心。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使用Hilt来管理应用中的依赖关系。通过@AndroidEntryPoint、@HiltViewModel等注解，我们可以轻松地将依赖注入到Fragment和ViewModel中。所有的Repository都被设计为单例，确保了全局状态的一致性。这种方式极大地降低了组件间的耦合度，使得代码更易于测试和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这里是MJFLY项目所使用的技术栈总览。我们采用了最新的Kotlin版本作为开发语言，并使用了一系列强大的Android官方库，如AndroidX、Material Design、Lifecycle、Navigation和Hilt等。同时，项目基于最新的DJI SDK V5构建，确保了对无人机功能的最佳支持。我们的目标平台是Android 14，并兼容至Android 7.0。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代码目录结构。代码按照功能模块清晰地组织，主要分为ui、data和model三个部分。ui包下包含了所有的界面相关代码，按页面划分。data包负责数据处理，包含了Repository和数据源。model包则定义了所有的数据模型。这种清晰的结构有助于团队协作和后续的功能迭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MJFLY通过WiFi直连技术，提供了一种便捷、精准且安全的无人机控制方案。我们不仅实现了核心的飞行控制功能，还通过现代化的架构和响应式数据流，保证了应用的高性能和可维护性。我们的目标是让每一次飞行都安全可控。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jpe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svg"/><Relationship Id="rId8" Type="http://schemas.openxmlformats.org/officeDocument/2006/relationships/image" Target="../media/image14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6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2.jpe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jpe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jpeg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tags" Target="../tags/tag2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1.xml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22.jpeg"/><Relationship Id="rId17" Type="http://schemas.openxmlformats.org/officeDocument/2006/relationships/image" Target="../media/image29.svg"/><Relationship Id="rId16" Type="http://schemas.openxmlformats.org/officeDocument/2006/relationships/image" Target="../media/image28.png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image" Target="../media/image27.svg"/><Relationship Id="rId12" Type="http://schemas.openxmlformats.org/officeDocument/2006/relationships/image" Target="../media/image26.png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5.jpe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jpe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5.svg"/><Relationship Id="rId10" Type="http://schemas.openxmlformats.org/officeDocument/2006/relationships/image" Target="../media/image54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svg"/><Relationship Id="rId8" Type="http://schemas.openxmlformats.org/officeDocument/2006/relationships/image" Target="../media/image58.png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63.svg"/><Relationship Id="rId14" Type="http://schemas.openxmlformats.org/officeDocument/2006/relationships/image" Target="../media/image62.png"/><Relationship Id="rId13" Type="http://schemas.openxmlformats.org/officeDocument/2006/relationships/image" Target="../media/image61.svg"/><Relationship Id="rId12" Type="http://schemas.openxmlformats.org/officeDocument/2006/relationships/image" Target="../media/image60.png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.jpeg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svg"/><Relationship Id="rId8" Type="http://schemas.openxmlformats.org/officeDocument/2006/relationships/image" Target="../media/image68.png"/><Relationship Id="rId7" Type="http://schemas.openxmlformats.org/officeDocument/2006/relationships/image" Target="../media/image67.svg"/><Relationship Id="rId6" Type="http://schemas.openxmlformats.org/officeDocument/2006/relationships/image" Target="../media/image6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2.jpeg"/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svg"/><Relationship Id="rId8" Type="http://schemas.openxmlformats.org/officeDocument/2006/relationships/image" Target="../media/image82.png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81.svg"/><Relationship Id="rId4" Type="http://schemas.openxmlformats.org/officeDocument/2006/relationships/image" Target="../media/image80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61.svg"/><Relationship Id="rId12" Type="http://schemas.openxmlformats.org/officeDocument/2006/relationships/image" Target="../media/image60.png"/><Relationship Id="rId11" Type="http://schemas.openxmlformats.org/officeDocument/2006/relationships/image" Target="../media/image85.svg"/><Relationship Id="rId10" Type="http://schemas.openxmlformats.org/officeDocument/2006/relationships/image" Target="../media/image84.png"/><Relationship Id="rId1" Type="http://schemas.openxmlformats.org/officeDocument/2006/relationships/image" Target="../media/image7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MJFLY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DJI Tello 无人机 WiFi 直控应用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Android 平台 | DJI SDK V5 | UDP 协议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 1.1 · 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52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71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项目定位 · Positioning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手机连接 DJI Tello 无人机 WiFi 热点即可实现直连控制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完全无需额外遥控器、无需 USB 数据线连接，即连即飞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底层完整保留 DJI Mobile SDK V5 原生框架，支持功能灵活扩展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165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127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核心特性 · Features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699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一键起飞 / 一键降落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屏幕双虚拟摇杆操控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29000" y="4699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实时电量 / 机身温度监控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无人机 WiFi 热点自动检测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t="3088" b="3088"/>
          <a:stretch>
            <a:fillRect/>
          </a:stretch>
        </p:blipFill>
        <p:spPr>
          <a:xfrm>
            <a:off x="6350000" y="1651000"/>
            <a:ext cx="5080000" cy="3556000"/>
          </a:xfrm>
          <a:prstGeom prst="roundRect">
            <a:avLst>
              <a:gd name="adj" fmla="val 4285"/>
            </a:avLst>
          </a:prstGeom>
          <a:noFill/>
          <a:ln w="25400" cap="flat" cmpd="sng">
            <a:solidFill>
              <a:srgbClr val="4ECDC4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350000" y="5461000"/>
            <a:ext cx="5080000" cy="1016000"/>
          </a:xfrm>
          <a:prstGeom prst="roundRect">
            <a:avLst>
              <a:gd name="adj" fmla="val 15000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4ECDC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57404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5588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核心技术栈：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Kotlin 2.1.0 | Android API 24+ | DJI SDK V5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Hilt 2.52 (DI) | MVVM 架构模式 | Jetpack Components</a:t>
            </a:r>
            <a:endParaRPr lang="en-US" sz="12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 主界面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4826000" cy="4064000"/>
          </a:xfrm>
          <a:prstGeom prst="roundRect">
            <a:avLst>
              <a:gd name="adj" fmla="val 3750"/>
            </a:avLst>
          </a:prstGeom>
          <a:solidFill>
            <a:srgbClr val="1A1E2E">
              <a:alpha val="90000"/>
            </a:srgbClr>
          </a:solidFill>
          <a:ln w="25400" cap="flat" cmpd="sng">
            <a:solidFill>
              <a:srgbClr val="4ECDC4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3000" y="2667000"/>
            <a:ext cx="1524000" cy="1524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4445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 主界面预览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底部导航栏：FPV · 控制 · 遥测 · 相机 · 媒体</a:t>
            </a:r>
            <a:endParaRPr lang="en-US" sz="13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096000" y="17780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20574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9304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导航结构设计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采用经典的底部 5-Tab 切换布局，支持设备横屏适配，操作路径直观便捷。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33020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35814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34544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五大核心功能页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FPV · 控制 · 遥测 · 相机 · 媒体</a:t>
            </a:r>
            <a:endParaRPr lang="en-US" sz="1400" b="1" i="0" u="none" strike="noStrike">
              <a:solidFill>
                <a:srgbClr val="4ECDC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0" y="48260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0" y="51054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49784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视觉与交互规范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Material Design 组件库构建，统一采用沉浸式深色主题</a:t>
            </a:r>
            <a:r>
              <a:rPr lang="en-US" sz="14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#1A1A2E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，减轻视觉疲劳。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图片 15" descr="B491B206CD161290963DF57AF88EC12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95" y="1682750"/>
            <a:ext cx="5803265" cy="4184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飞行控制界面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7790" y="2032000"/>
            <a:ext cx="2794000" cy="3556000"/>
          </a:xfrm>
          <a:prstGeom prst="roundRect">
            <a:avLst>
              <a:gd name="adj" fmla="val 5454"/>
            </a:avLst>
          </a:prstGeom>
          <a:solidFill>
            <a:srgbClr val="19232D">
              <a:alpha val="90000"/>
            </a:srgbClr>
          </a:solidFill>
          <a:ln w="12700" cap="flat" cmpd="sng">
            <a:solidFill>
              <a:srgbClr val="4ECDC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" y="24384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47090" y="24384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顶部状态栏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87020" y="3498215"/>
            <a:ext cx="228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D2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实时监测飞行关键指标，确保链路与机体状态稳定：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WiFi连接状态 (SSID)</a:t>
            </a:r>
            <a:endParaRPr lang="en-US" sz="1300" b="0" i="0" u="none" strike="noStrike">
              <a:solidFill>
                <a:srgbClr val="4ECDC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C8D2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剩余电池电量与电压</a:t>
            </a:r>
            <a:endParaRPr lang="en-US" sz="1300" b="0" i="0" u="none" strike="noStrike">
              <a:solidFill>
                <a:srgbClr val="C8D2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C8D2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机身与环境温度显示</a:t>
            </a:r>
            <a:endParaRPr lang="en-US" sz="1300" b="0" i="0" u="none" strike="noStrike">
              <a:solidFill>
                <a:srgbClr val="C8D2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l="18657" r="18657"/>
          <a:stretch>
            <a:fillRect/>
          </a:stretch>
        </p:blipFill>
        <p:spPr>
          <a:xfrm>
            <a:off x="3937000" y="2032000"/>
            <a:ext cx="4318000" cy="3556000"/>
          </a:xfrm>
          <a:prstGeom prst="roundRect">
            <a:avLst>
              <a:gd name="adj" fmla="val 4285"/>
            </a:avLst>
          </a:prstGeom>
          <a:noFill/>
          <a:ln w="25400" cap="flat" cmpd="sng">
            <a:solidFill>
              <a:srgbClr val="4ECDC4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8459470" y="2162175"/>
            <a:ext cx="3683000" cy="3556000"/>
          </a:xfrm>
          <a:prstGeom prst="roundRect">
            <a:avLst>
              <a:gd name="adj" fmla="val 4285"/>
            </a:avLst>
          </a:prstGeom>
          <a:solidFill>
            <a:srgbClr val="19232D">
              <a:alpha val="90000"/>
            </a:srgbClr>
          </a:solidFill>
          <a:ln w="12700" cap="flat" cmpd="sng">
            <a:solidFill>
              <a:srgbClr val="4ECDC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7000" y="2413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418320" y="24384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底部控制按钮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58885" y="3613785"/>
            <a:ext cx="317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D2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集成核心飞行指令，布局清晰，操作响应毫秒级：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一键起飞 / 降落 / 智能返航 (RTH)</a:t>
            </a:r>
            <a:endParaRPr lang="en-US" sz="1300" b="0" i="0" u="none" strike="noStrike">
              <a:solidFill>
                <a:srgbClr val="4ECDC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C8D2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虚拟摇杆 启用 / 禁用 切换开关</a:t>
            </a:r>
            <a:endParaRPr lang="en-US" sz="1300" b="0" i="0" u="none" strike="noStrike">
              <a:solidFill>
                <a:srgbClr val="C8D2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红色醒目急停 (Emergency Stop)</a:t>
            </a:r>
            <a:r>
              <a:rPr lang="en-US" sz="1200" b="0" i="0" u="none" strike="noStrike">
                <a:solidFill>
                  <a:srgbClr val="96A0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最高优先级安全指令</a:t>
            </a:r>
            <a:endParaRPr lang="en-US" sz="1200" b="0" i="0" u="none" strike="noStrike">
              <a:solidFill>
                <a:srgbClr val="96A0A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0" y="584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双虚拟摇杆操控 · 状态全维感知 · 安全指令秒级响应</a:t>
            </a:r>
            <a:endParaRPr lang="en-US" sz="1100"/>
          </a:p>
        </p:txBody>
      </p:sp>
      <p:pic>
        <p:nvPicPr>
          <p:cNvPr id="14" name="图片 13" descr="6CE72A675063B9D7EEE8FFEB440B6D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2385" y="1854835"/>
            <a:ext cx="5739130" cy="38188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虚拟摇杆控制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02000" cy="3302000"/>
          </a:xfrm>
          <a:prstGeom prst="roundRect">
            <a:avLst>
              <a:gd name="adj" fmla="val 3076"/>
            </a:avLst>
          </a:prstGeom>
          <a:solidFill>
            <a:srgbClr val="1A232D">
              <a:alpha val="85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24000" y="20320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左摇杆 · 油门 / 偏航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2921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 轴 (垂直):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控制无人机上升 / 下降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 轴 (水平):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控制无人机左转 / 右转</a:t>
            </a:r>
            <a:endParaRPr 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核心作用：调节飞行高度与机头朝向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19711" r="19711"/>
          <a:stretch>
            <a:fillRect/>
          </a:stretch>
        </p:blipFill>
        <p:spPr>
          <a:xfrm>
            <a:off x="4318000" y="1778000"/>
            <a:ext cx="3556000" cy="3302000"/>
          </a:xfrm>
          <a:prstGeom prst="rect">
            <a:avLst/>
          </a:prstGeom>
          <a:noFill/>
          <a:ln w="25400" cap="flat" cmpd="sng">
            <a:solidFill>
              <a:srgbClr val="4ECDC4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8128000" y="1778000"/>
            <a:ext cx="3302000" cy="3302000"/>
          </a:xfrm>
          <a:prstGeom prst="roundRect">
            <a:avLst>
              <a:gd name="adj" fmla="val 3076"/>
            </a:avLst>
          </a:prstGeom>
          <a:solidFill>
            <a:srgbClr val="1A232D">
              <a:alpha val="85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820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4"/>
            </p:custDataLst>
          </p:nvPr>
        </p:nvSpPr>
        <p:spPr>
          <a:xfrm>
            <a:off x="8890000" y="20320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右摇杆 · 俯仰 / 横滚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5"/>
            </p:custDataLst>
          </p:nvPr>
        </p:nvSpPr>
        <p:spPr>
          <a:xfrm>
            <a:off x="8382000" y="2921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 轴 (前后):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控制无人机前进 / 后退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 轴 (左右):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控制无人机向左 / 向右平移</a:t>
            </a:r>
            <a:endParaRPr 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核心作用：确定飞行轨迹与方向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0F172A">
              <a:alpha val="90000"/>
            </a:srgbClr>
          </a:solidFill>
          <a:ln w="12700" cap="flat" cmpd="sng">
            <a:solidFill>
              <a:srgbClr val="4ECDC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3000" y="5588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32000" y="5461000"/>
            <a:ext cx="914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底层参数与通信标准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摇杆原始值</a:t>
            </a:r>
            <a:r>
              <a:rPr lang="en-US" sz="14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[-1.0 ~ +1.0]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归一化映射 →</a:t>
            </a:r>
            <a:r>
              <a:rPr lang="en-US" sz="14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[-100 ~ +100]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指令值 | 控制指令发送频率：</a:t>
            </a:r>
            <a:r>
              <a:rPr lang="en-US" sz="14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20Hz (每50ms一次)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，确保操控低延迟与流畅性</a:t>
            </a:r>
            <a:endParaRPr 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图片 15" descr="6CE72A675063B9D7EEE8FFEB440B6D3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11600" y="1750060"/>
            <a:ext cx="4218305" cy="30841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遥测数据界面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3860" b="3860"/>
          <a:stretch>
            <a:fillRect/>
          </a:stretch>
        </p:blipFill>
        <p:spPr>
          <a:xfrm>
            <a:off x="762000" y="1651000"/>
            <a:ext cx="3048000" cy="4699000"/>
          </a:xfrm>
          <a:prstGeom prst="rect">
            <a:avLst/>
          </a:prstGeom>
          <a:noFill/>
          <a:ln w="25400" cap="flat" cmpd="sng">
            <a:solidFill>
              <a:srgbClr val="4ECDC4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318000" y="1651000"/>
            <a:ext cx="7112000" cy="2286000"/>
          </a:xfrm>
          <a:prstGeom prst="roundRect">
            <a:avLst>
              <a:gd name="adj" fmla="val 0"/>
            </a:avLst>
          </a:prstGeom>
          <a:solidFill>
            <a:srgbClr val="17253C">
              <a:alpha val="85000"/>
            </a:srgbClr>
          </a:solidFill>
          <a:ln w="12700" cap="flat" cmpd="sng">
            <a:solidFill>
              <a:srgbClr val="4ECDC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879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080000" y="18415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飞行器状态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0" y="2413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连接状态：实时监测信号强度与连接稳定性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飞行模式：一键切换手动、自动或辅助飞行模式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电池电量：精确计算剩余续航时间与低电预警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GPS信号：显示搜星数量，确保定位精准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001000" y="2413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飞行状态：起飞/悬停/降落/返航全流程追踪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电机状态：实时反馈各电机转速及负载情况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飞行时间：记录任务飞行时长与总飞行时长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8000" y="4191000"/>
            <a:ext cx="7112000" cy="2286000"/>
          </a:xfrm>
          <a:prstGeom prst="roundRect">
            <a:avLst>
              <a:gd name="adj" fmla="val 0"/>
            </a:avLst>
          </a:prstGeom>
          <a:solidFill>
            <a:srgbClr val="17253C">
              <a:alpha val="85000"/>
            </a:srgbClr>
          </a:solidFill>
          <a:ln w="12700" cap="flat" cmpd="sng">
            <a:solidFill>
              <a:srgbClr val="4ECDC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4419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43815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飞行遥测数据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4953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GPS坐标：经纬度实时回传，支持轨迹记录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相对/起飞高度：双重高度参考，确保飞行安全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超声波高度：低空精准定高数据支持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01000" y="4953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姿态角：精准显示俯仰、横滚及偏航角度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速度向量：实时反馈飞行速度与移动方向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数据采样率：毫秒级高频采集，还原飞行细节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图片 14" descr="19A25305E84C0C19E1E7C9CFE760AA6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0165" y="1465580"/>
            <a:ext cx="4368165" cy="5180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FPV 第一人称视角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9315" r="9315"/>
          <a:stretch>
            <a:fillRect/>
          </a:stretch>
        </p:blipFill>
        <p:spPr>
          <a:xfrm>
            <a:off x="762000" y="1778000"/>
            <a:ext cx="5080000" cy="4318000"/>
          </a:xfrm>
          <a:prstGeom prst="roundRect">
            <a:avLst>
              <a:gd name="adj" fmla="val 4705"/>
            </a:avLst>
          </a:prstGeom>
          <a:noFill/>
          <a:ln w="25400" cap="flat" cmpd="sng">
            <a:solidFill>
              <a:srgbClr val="4ECDC4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350000" y="1778000"/>
            <a:ext cx="5080000" cy="1270000"/>
          </a:xfrm>
          <a:prstGeom prst="roundRect">
            <a:avLst>
              <a:gd name="adj" fmla="val 1200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095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493000" y="19685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实时视频流渲染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TextureView 高效渲染摄像头画面，保障低延迟与高帧率，还原飞行现场。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3302000"/>
            <a:ext cx="5080000" cy="1270000"/>
          </a:xfrm>
          <a:prstGeom prst="roundRect">
            <a:avLst>
              <a:gd name="adj" fmla="val 1200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3619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34925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沉浸式飞行控制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在画面边缘叠加半透明操作按钮，支持一键起飞、降落、拍照及录像，操作便捷不遮挡视野。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4826000"/>
            <a:ext cx="5080000" cy="1270000"/>
          </a:xfrm>
          <a:prstGeom prst="roundRect">
            <a:avLst>
              <a:gd name="adj" fmla="val 1200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5143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93000" y="50165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关键状态覆盖层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实时显示信号强度、电池电量及连接状态，飞行参数一目了然，全方位保障飞行安全。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图片 13" descr="4C7A2B0AA1550DFECED2561ECD6A45F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065" y="1316355"/>
            <a:ext cx="5448935" cy="5541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Tello UDP 通信协议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7253D">
              <a:alpha val="90000"/>
            </a:srgbClr>
          </a:solidFill>
          <a:ln w="12700" cap="flat" cmpd="sng">
            <a:solidFill>
              <a:srgbClr val="4ECDC4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端口与用途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8889 端口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通信方向：手机 → Tello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用途：发送飞行控制指令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2400"/>
              </a:spcBef>
            </a:pPr>
            <a:r>
              <a:rPr lang="en-US" sz="16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8890 端口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通信方向：Tello → 手机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用途：实时接收无人机状态反馈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7253D">
              <a:alpha val="90000"/>
            </a:srgbClr>
          </a:solidFill>
          <a:ln w="12700" cap="flat" cmpd="sng">
            <a:solidFill>
              <a:srgbClr val="4ECDC4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核心控制命令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794000"/>
            <a:ext cx="2794000" cy="2794000"/>
          </a:xfrm>
          <a:prstGeom prst="roundRect">
            <a:avLst>
              <a:gd name="adj" fmla="val 3636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889500" y="2984500"/>
            <a:ext cx="2413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command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激活 SDK 模式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takeoff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无人机自动起飞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land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无人机自动降落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emergency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紧急停机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rc a b c d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虚拟摇杆控制飞行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7253D">
              <a:alpha val="90000"/>
            </a:srgbClr>
          </a:solidFill>
          <a:ln w="12700" cap="flat" cmpd="sng">
            <a:solidFill>
              <a:srgbClr val="4ECDC4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32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状态数据解析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794000"/>
            <a:ext cx="2794000" cy="1651000"/>
          </a:xfrm>
          <a:prstGeom prst="roundRect">
            <a:avLst>
              <a:gd name="adj" fmla="val 6153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509000" y="29210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`pitch:0;roll:0;yaw:0;vgx:0;vgy:0;vgz:0;templ:60;temph:62;tof:10;h:0;bat:86;baro:0.00;time:0;agx:2.00;agy:-1.00;agz:-10.00;`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4699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包含17个核心数据字段：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姿态角 (Pitch/Roll/Yaw) · 飞行速度 · 机身温度 · 飞行高度 · 剩余电量 · 飞行时间 · 加速度 (x/y/z)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MVVM + Repository 的高内聚、低耦合分层架构方案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2032000" cy="4064000"/>
          </a:xfrm>
          <a:prstGeom prst="roundRect">
            <a:avLst>
              <a:gd name="adj" fmla="val 500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4ECDC4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3200" y="2286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11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 Layer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810000"/>
            <a:ext cx="177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MainActivity + Fragments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VirtualStickView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ViewBinding, Navigation Component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048000" y="2032000"/>
            <a:ext cx="2032000" cy="4064000"/>
          </a:xfrm>
          <a:prstGeom prst="roundRect">
            <a:avLst>
              <a:gd name="adj" fmla="val 500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4ECDC4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9200" y="2286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175000" y="311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ViewModel Layer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175000" y="3810000"/>
            <a:ext cx="177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ControlViewModel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FpvViewModel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TelemetryViewModel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StateFlow, Coroutine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334000" y="2032000"/>
            <a:ext cx="2032000" cy="4064000"/>
          </a:xfrm>
          <a:prstGeom prst="roundRect">
            <a:avLst>
              <a:gd name="adj" fmla="val 500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4ECDC4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5200" y="2286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461000" y="311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Repository Layer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461000" y="3810000"/>
            <a:ext cx="177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AircraftRepositoryImpl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TelloFlightControlRepository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接口与实现分离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0" y="2032000"/>
            <a:ext cx="2032000" cy="4064000"/>
          </a:xfrm>
          <a:prstGeom prst="roundRect">
            <a:avLst>
              <a:gd name="adj" fmla="val 500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4ECDC4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200" y="2286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747000" y="311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数据源层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747000" y="3810000"/>
            <a:ext cx="177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TelloStateReceiver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WifiConnectionDetector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DjiSdkManager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UDP监听 / SSID检测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906000" y="2032000"/>
            <a:ext cx="2032000" cy="4064000"/>
          </a:xfrm>
          <a:prstGeom prst="roundRect">
            <a:avLst>
              <a:gd name="adj" fmla="val 500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4ECDC4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17200" y="22860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0033000" y="311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通信协议层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033000" y="3810000"/>
            <a:ext cx="177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Tello UDP 文本协议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Cmd: 192.168.10.1:8889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State: 0.0.0.0:8890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数据流设计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540000" cy="3048000"/>
          </a:xfrm>
          <a:prstGeom prst="roundRect">
            <a:avLst>
              <a:gd name="adj" fmla="val 4000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4ECDC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8796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TelloStateReceiver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215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监听 UDP 8890 端口，实时接收飞行器回传的状态信息。解析状态字符串并将其转化为强类型数据，最终通过</a:t>
            </a:r>
            <a:r>
              <a:rPr lang="en-US" sz="13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MutableStateFlow&lt;TelloState&gt;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进行分发。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1651000"/>
            <a:ext cx="2540000" cy="3048000"/>
          </a:xfrm>
          <a:prstGeom prst="roundRect">
            <a:avLst>
              <a:gd name="adj" fmla="val 4000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4ECDC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254500" y="18796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AircraftRepositoryImpl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46500" y="2667000"/>
            <a:ext cx="215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作为数据聚合中心，使用</a:t>
            </a:r>
            <a:r>
              <a:rPr lang="en-US" sz="13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combine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操作符将 WiFi 连接状态与底层 TelloState 进行合并，并映射转换为上层使用的</a:t>
            </a:r>
            <a:r>
              <a:rPr lang="en-US" sz="13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AircraftStatus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3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FlightTelemetry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数据模型。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651000"/>
            <a:ext cx="2540000" cy="3048000"/>
          </a:xfrm>
          <a:prstGeom prst="roundRect">
            <a:avLst>
              <a:gd name="adj" fmla="val 4000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4ECDC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190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048500" y="18796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ControlViewModel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40500" y="2667000"/>
            <a:ext cx="215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负责业务逻辑处理与状态组合。整合来自 Repository 的飞行器状态数据，计算并输出包含完整 UI 所需信息的</a:t>
            </a:r>
            <a:r>
              <a:rPr lang="en-US" sz="13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ControlUiState (StateFlow)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，为 UI 层提供单一可信数据源。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0" y="1651000"/>
            <a:ext cx="2286000" cy="3048000"/>
          </a:xfrm>
          <a:prstGeom prst="roundRect">
            <a:avLst>
              <a:gd name="adj" fmla="val 4444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4ECDC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34500" y="1905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842500" y="1879600"/>
            <a:ext cx="146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ControlFragment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334500" y="26670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 展示层。利用</a:t>
            </a:r>
            <a:r>
              <a:rPr lang="en-US" sz="13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lifecycleScope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以生命周期感知的方式收集 ViewModel 暴露的 StateFlow 数据流，自动响应数据变更并实时更新界面，确保数据与 UI 的一致性。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953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0F172A">
              <a:alpha val="90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270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78000" y="5207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 操作隔离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所有网络与 I/O 操作严格运行在 Dispatchers.IO 线程，避免阻塞主线程。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2000" y="52705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334000" y="5207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自动响应更新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StateFlow 的冷流特性，状态变更自动驱动 UI 刷新，无需手动调用 invalidate。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01000" y="5270500"/>
            <a:ext cx="508000" cy="508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763000" y="5207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生命周期安全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Lifecycle-aware 协程收集数据流，防止内存泄漏，确保应用健壮性。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WiFi 连接检测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349500"/>
          </a:xfrm>
          <a:prstGeom prst="roundRect">
            <a:avLst>
              <a:gd name="adj" fmla="val 4324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核心检测机制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底层驱动：调用 Android 原生</a:t>
            </a:r>
            <a:r>
              <a:rPr lang="en-US" sz="13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WifiManager API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获取实时网络状态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采样频率：每 2 秒主动扫描并解析当前连接的 SSID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响应式更新：基于</a:t>
            </a:r>
            <a:r>
              <a:rPr lang="en-US" sz="13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StateFlow&lt;Boolean&gt;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 UI 状态自动切换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支持的无人机 SSID 前缀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080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TELLO-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DJI Mini 3/4 Pro-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Mavic Air- / Air2S_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29000" y="5080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Avata_ / DJI FPV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DJI Neo-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(兼容主流消费级无人机)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4826000"/>
          </a:xfrm>
          <a:prstGeom prst="roundRect">
            <a:avLst>
              <a:gd name="adj" fmla="val 2105"/>
            </a:avLst>
          </a:prstGeom>
          <a:solidFill>
            <a:srgbClr val="0F172A">
              <a:alpha val="90000"/>
            </a:srgbClr>
          </a:solidFill>
          <a:ln w="25400" cap="flat" cmpd="sng">
            <a:solidFill>
              <a:srgbClr val="4ECDC4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3700" y="2286000"/>
            <a:ext cx="1625600" cy="162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540500" y="4191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实时连接状态界面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0500" y="5207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自动识别连接状态</a:t>
            </a:r>
            <a:b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支持“已连接 / 搜索中 / 未连接”多态切换</a:t>
            </a:r>
            <a:endParaRPr lang="en-US" sz="1100"/>
          </a:p>
        </p:txBody>
      </p:sp>
      <p:pic>
        <p:nvPicPr>
          <p:cNvPr id="19" name="图片 18" descr="B491B206CD161290963DF57AF88EC12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1021715"/>
            <a:ext cx="5548630" cy="54552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依赖注入 (Hilt)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注入注解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794000" cy="2794000"/>
          </a:xfrm>
          <a:prstGeom prst="roundRect">
            <a:avLst>
              <a:gd name="adj" fmla="val 3636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984500"/>
            <a:ext cx="2540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ECD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@AndroidEntryPoint</a:t>
            </a:r>
            <a:r>
              <a:rPr lang="en-US" sz="11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Fragment 注入点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ECD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@HiltViewModel</a:t>
            </a:r>
            <a:r>
              <a:rPr lang="en-US" sz="11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ViewModel 注入</a:t>
            </a:r>
            <a:endParaRPr lang="en-US" sz="1100" b="0" i="0" u="none" strike="noStrike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ECD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@Inject constructor()</a:t>
            </a:r>
            <a:r>
              <a:rPr lang="en-US" sz="11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构造函数注入</a:t>
            </a:r>
            <a:endParaRPr lang="en-US" sz="1100" b="0" i="0" u="none" strike="noStrike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ECD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@Singleton</a:t>
            </a:r>
            <a:r>
              <a:rPr lang="en-US" sz="11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单例作用域</a:t>
            </a:r>
            <a:endParaRPr lang="en-US" sz="1100" b="0" i="0" u="none" strike="noStrike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ECD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@Module @InstallIn(</a:t>
            </a:r>
            <a:endParaRPr lang="en-US" sz="1200" b="0" i="0" u="none" strike="noStrike">
              <a:solidFill>
                <a:srgbClr val="4ECD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SingletonComponent::class</a:t>
            </a:r>
            <a:endParaRPr lang="en-US" sz="1200" b="0" i="0" u="none" strike="noStrike">
              <a:solidFill>
                <a:srgbClr val="CBD5E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ECD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r>
              <a:rPr lang="en-US" sz="11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模块安装</a:t>
            </a:r>
            <a:endParaRPr lang="en-US" sz="1100" b="0" i="0" u="none" strike="noStrike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接口与实现绑定</a:t>
            </a:r>
            <a:endParaRPr lang="en-US" sz="1100"/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4699000" y="2794000"/>
          <a:ext cx="2794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1397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接口 Interface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CDC4">
                        <a:alpha val="2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实现 Impl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CDC4">
                        <a:alpha val="25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FlightControl</a:t>
                      </a:r>
                      <a:b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Repository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TelloFlightControl</a:t>
                      </a:r>
                      <a:b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Repository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Aircraft</a:t>
                      </a:r>
                      <a:b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Repository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AircraftRepository</a:t>
                      </a:r>
                      <a:b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Impl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Camera</a:t>
                      </a:r>
                      <a:b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Repository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CameraRepository</a:t>
                      </a:r>
                      <a:b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Impl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8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Media</a:t>
                      </a:r>
                      <a:b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Repository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MediaRepository</a:t>
                      </a:r>
                      <a:b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Impl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AutoShape 13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4ECDC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32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921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09000" y="3149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017000" y="3048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单例管理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 Repository 统一单例化，保证状态一致性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40005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09000" y="4229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017000" y="4127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自动注入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ViewModel 依赖自动注入，减少样板代码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5080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09000" y="5308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017000" y="5207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灵活维护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实现与接口分离，便于单元测试和实现替换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4ECDC4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8750" b="18750"/>
          <a:stretch>
            <a:fillRect/>
          </a:stretch>
        </p:blipFill>
        <p:spPr>
          <a:xfrm>
            <a:off x="1651000" y="1905000"/>
            <a:ext cx="1524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2667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核心开发框架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429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Kotlin 2.1.0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 现代化的首选开发语言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AGP 8.8.0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 构建应用程序的官方插件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Gradle 8.10.2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 高性能自动化构建工具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JDK 17 LTS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 长期支持版的Java运行环境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4ECDC4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16295" b="16295"/>
          <a:stretch>
            <a:fillRect/>
          </a:stretch>
        </p:blipFill>
        <p:spPr>
          <a:xfrm>
            <a:off x="5334000" y="1905000"/>
            <a:ext cx="1524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635500" y="2667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Android 生态库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3429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AndroidX Core &amp; Material UI：</a:t>
            </a: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基础兼容与现代化界面组件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Lifecycle &amp; ViewModel：</a:t>
            </a: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高效的生命周期与状态管理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Navigation：</a:t>
            </a: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标准化的单Activity页面导航方案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Hilt &amp; Coroutines：</a:t>
            </a: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依赖注入与协程异步编程支持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4ECDC4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 t="13780" b="13780"/>
          <a:stretch>
            <a:fillRect/>
          </a:stretch>
        </p:blipFill>
        <p:spPr>
          <a:xfrm>
            <a:off x="9017000" y="1905000"/>
            <a:ext cx="1524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318500" y="2667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DJI SDK 集成配置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3429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SDK 版本:</a:t>
            </a:r>
            <a:r>
              <a:rPr lang="en-US" sz="13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V5 (5.17.0)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架构支持: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arm64-v8a (64位)</a:t>
            </a:r>
            <a:endParaRPr lang="en-US" sz="13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兼容下限: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Android 7.0 (API 24)</a:t>
            </a:r>
            <a:endParaRPr lang="en-US" sz="13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目标平台: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Android 14 (API 34)</a:t>
            </a:r>
            <a:endParaRPr lang="en-US" sz="13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项目结构 Project Structure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7202D">
              <a:alpha val="90000"/>
            </a:srgbClr>
          </a:solidFill>
          <a:ln w="25400" cap="flat" cmpd="sng">
            <a:solidFill>
              <a:srgbClr val="4ECDC4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81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 界面层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com.example.mjfly/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ui/</a:t>
            </a:r>
            <a:endParaRPr lang="en-US" sz="1100"/>
          </a:p>
          <a:p>
            <a:pPr marL="15240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MainActivity.kt</a:t>
            </a:r>
            <a:endParaRPr lang="en-US" sz="1200" b="0" i="0" u="none" strike="noStrike">
              <a:solidFill>
                <a:srgbClr val="4ECDC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MainViewModel.kt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control/</a:t>
            </a:r>
            <a:endParaRPr lang="en-US" sz="12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ControlFragment, ControlViewModel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fpv/</a:t>
            </a:r>
            <a:endParaRPr lang="en-US" sz="12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FpvFragment, FpvViewModel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telemetry/</a:t>
            </a:r>
            <a:endParaRPr lang="en-US" sz="12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TelemetryFragment, TelemetryViewModel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7202D">
              <a:alpha val="90000"/>
            </a:srgbClr>
          </a:solidFill>
          <a:ln w="25400" cap="flat" cmpd="sng">
            <a:solidFill>
              <a:srgbClr val="4ECDC4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981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数据层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794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com.example.mjfly/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data/</a:t>
            </a:r>
            <a:endParaRPr lang="en-US" sz="1100"/>
          </a:p>
          <a:p>
            <a:pPr marL="15240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repository/</a:t>
            </a:r>
            <a:endParaRPr lang="en-US" sz="12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AircraftRepository (Interface)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FlightControlRepository (Interface)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└── impl/ (实现类)</a:t>
            </a:r>
            <a:endParaRPr lang="en-US" sz="1100" b="0" i="0" u="none" strike="noStrike">
              <a:solidFill>
                <a:srgbClr val="4ECDC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457200" indent="0" algn="l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AircraftRepositoryImpl, TelloFlightControlRepo</a:t>
            </a:r>
            <a:endParaRPr lang="en-US" sz="10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└── source/ (数据源)</a:t>
            </a:r>
            <a:endParaRPr lang="en-US" sz="12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TelloStateReceiver (状态接收)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WifiConnectionDetector (连接检测)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7202D">
              <a:alpha val="90000"/>
            </a:srgbClr>
          </a:solidFill>
          <a:ln w="25400" cap="flat" cmpd="sng">
            <a:solidFill>
              <a:srgbClr val="4ECDC4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3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1981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&amp; DI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794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com.example.mjfly/</a:t>
            </a:r>
            <a:endParaRPr lang="en-US" sz="1100"/>
          </a:p>
          <a:p>
            <a:pPr marL="15240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model/ (数据模型)</a:t>
            </a:r>
            <a:endParaRPr lang="en-US" sz="1200" b="0" i="0" u="none" strike="noStrike">
              <a:solidFill>
                <a:srgbClr val="4ECDC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TelloState.kt - 无人机状态数据类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AircraftStatus.kt - 状态枚举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└── di/ (依赖注入)</a:t>
            </a:r>
            <a:endParaRPr lang="en-US" sz="1200" b="0" i="0" u="none" strike="noStrike">
              <a:solidFill>
                <a:srgbClr val="4ECDC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AppModule.kt - 提供全局单例依赖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0" algn="l">
              <a:lnSpc>
                <a:spcPct val="133000"/>
              </a:lnSpc>
            </a:pPr>
            <a:r>
              <a:rPr lang="en-US" sz="1100" b="0" i="1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"结构清晰，职责分离，利于扩展"</a:t>
            </a:r>
            <a:endParaRPr lang="en-US" sz="1100" b="0" i="1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76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4ECDC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让每一次飞行都安全可控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" y="2159000"/>
            <a:ext cx="3429000" cy="1587500"/>
          </a:xfrm>
          <a:prstGeom prst="roundRect">
            <a:avLst>
              <a:gd name="adj" fmla="val 64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ECDC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500" y="2476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4384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WiFi 直连，无需遥控器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直连Tello无人机WiFi，告别实体遥控，即连即飞</a:t>
            </a:r>
            <a:endParaRPr lang="en-US" sz="1200" b="0" i="0" u="none" strike="noStrike">
              <a:solidFill>
                <a:srgbClr val="CBD5E1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381500" y="2159000"/>
            <a:ext cx="3429000" cy="1587500"/>
          </a:xfrm>
          <a:prstGeom prst="roundRect">
            <a:avLst>
              <a:gd name="adj" fmla="val 64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ECDC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476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461000" y="24384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双虚拟摇杆精准操控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自定义灵敏度，全向姿态控制，飞行轨迹尽在掌握</a:t>
            </a:r>
            <a:endParaRPr lang="en-US" sz="1200" b="0" i="0" u="none" strike="noStrike">
              <a:solidFill>
                <a:srgbClr val="CBD5E1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91500" y="2159000"/>
            <a:ext cx="3429000" cy="1587500"/>
          </a:xfrm>
          <a:prstGeom prst="roundRect">
            <a:avLst>
              <a:gd name="adj" fmla="val 64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ECDC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5500" y="2476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271000" y="24384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 项实时遥测数据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实时刷新电池、高度、温度等核心指标，状态一目了然</a:t>
            </a:r>
            <a:endParaRPr lang="en-US" sz="1200" b="0" i="0" u="none" strike="noStrike">
              <a:solidFill>
                <a:srgbClr val="CBD5E1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71500" y="4191000"/>
            <a:ext cx="3429000" cy="1587500"/>
          </a:xfrm>
          <a:prstGeom prst="roundRect">
            <a:avLst>
              <a:gd name="adj" fmla="val 64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ECDC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" y="4508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44704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紧急停止安全保障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一键悬停/急停功能，在突发状况下快速接管，保障安全</a:t>
            </a:r>
            <a:endParaRPr lang="en-US" sz="1200" b="0" i="0" u="none" strike="noStrike">
              <a:solidFill>
                <a:srgbClr val="CBD5E1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381500" y="4191000"/>
            <a:ext cx="3429000" cy="1587500"/>
          </a:xfrm>
          <a:prstGeom prst="roundRect">
            <a:avLst>
              <a:gd name="adj" fmla="val 64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ECDC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35500" y="45085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461000" y="44704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MVVM + Repository 架构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逻辑与UI解耦，职责清晰，大幅提升代码可维护性</a:t>
            </a:r>
            <a:endParaRPr lang="en-US" sz="1200" b="0" i="0" u="none" strike="noStrike">
              <a:solidFill>
                <a:srgbClr val="CBD5E1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191500" y="4191000"/>
            <a:ext cx="3429000" cy="1587500"/>
          </a:xfrm>
          <a:prstGeom prst="roundRect">
            <a:avLst>
              <a:gd name="adj" fmla="val 64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ECDC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5500" y="45085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271000" y="44704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Kotlin 协程响应式数据流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非阻塞式编程处理网络与串口数据，确保高并发下的流畅性</a:t>
            </a:r>
            <a:endParaRPr lang="en-US" sz="1200" b="0" i="0" u="none" strike="noStrike">
              <a:solidFill>
                <a:srgbClr val="CBD5E1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0" y="6032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MJFLY v1.1 | DJI Tello WiFi 直控应用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260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260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260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26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26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26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260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260,&quot;left&quot;:60,&quot;top&quot;:14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4829</Words>
  <Application>WPS 演示</Application>
  <PresentationFormat/>
  <Paragraphs>323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Source Code Pro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Hina.tt#max</cp:lastModifiedBy>
  <cp:revision>3</cp:revision>
  <dcterms:created xsi:type="dcterms:W3CDTF">2026-05-11T08:46:30Z</dcterms:created>
  <dcterms:modified xsi:type="dcterms:W3CDTF">2026-05-11T08:48:06Z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3708A3394BD94CC2AD2642C9D63AD943_12</vt:lpwstr>
  </property>
  <property fmtid="{D5CDD505-2E9C-101B-9397-08002B2CF9AE}" pid="3" name="KSOProductBuildVer">
    <vt:lpwstr>2052-12.1.0.25865</vt:lpwstr>
  </property>
</Properties>
</file>